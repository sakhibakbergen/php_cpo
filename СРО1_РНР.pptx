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266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Моя тема: каталог кафедр и преподавателей. Это веб-приложение на чистом PHP. Данные хранятся в JSON, есть поиск, фильтры, сортировка и страница профиля преподавателя.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Проблема: данные о преподавателях разбросаны по страницам, быстро найти нужного человека трудно. Цель: единый каталог с поиском по фамилии и дисциплине, фильтрами по кафедре и должности и безопасным выводом.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требования из задания для темы 3. Все обязательные выполнены, кроме административной формы повышенной сложности. Справа технологии и что делает каждая.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 разделено на три слоя. Данные лежат в JSON, логика в catalog.php, представление в страницах и шаблонах. Ниже путь запроса от браузера до готового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каталог: поиск, фильтры по кафедре и должности, кнопки Найти и Сбросить, карточки преподавателей. Справа профиль с контактами, дисциплинами и расписанием по дням.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Одиннадцать файлов. Логика собрана в catalog.php, страницы только вызывают функции и выводят результат, данные лежат в catalog.json.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Девять функций. Каждая принимает массив и возвращает новый, исходные данные не меняются. Поиск и фильтры собираются в цепочку, которая сужает список.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Самое важное для защиты. Параметры GET проверяются по белому списку, затем применяются три функции подряд. mb_strtolower нужна для кириллицы.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реакция приложения на неверный ввод, справа ошибки, которые нашли при проверке, и как их исправили. Тесты нужно пройти в браузере и отметить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приложение работает и закрывает требования задания, кроме административной формы. Могу показать поиск, фильтры, страницу 404 и реакцию на повреждённый JSON, а также объяснить любую функцию.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 №</a:t>
            </a:r>
            <a:r>
              <a:rPr lang="ru-RU" sz="1300" b="1" kern="0" spc="2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300" b="1" kern="0" spc="2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ПРОГРАММИРОВАНИЕ НА PHP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2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Каталог кафедр и преподавателей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8.4, JSON, поиск, фильтры и страница профиля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85225" y="41833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</a:t>
            </a:r>
            <a:r>
              <a:rPr lang="ru-RU" sz="15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Сахи Бакберген</a:t>
            </a:r>
            <a:br>
              <a:rPr lang="ru-RU" sz="15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dirty="0" err="1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</a:t>
            </a:r>
            <a:r>
              <a:rPr lang="en-US" sz="15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ru-RU" sz="15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 24-22</a:t>
            </a:r>
            <a:br>
              <a:rPr lang="ru-RU" sz="15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dirty="0" err="1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Преподаватель</a:t>
            </a:r>
            <a:r>
              <a:rPr lang="en-US" sz="15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00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Рашидинов Д.Р.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5040" y="54864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0" y="6400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6400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кафедр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192024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20116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20116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0" y="329184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33832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33832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занятий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 и цель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023360" cy="2011680"/>
          </a:xfrm>
          <a:prstGeom prst="roundRect">
            <a:avLst>
              <a:gd name="adj" fmla="val 5455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280160"/>
            <a:ext cx="329184" cy="329184"/>
          </a:xfrm>
          <a:prstGeom prst="ellipse">
            <a:avLst/>
          </a:prstGeom>
          <a:solidFill>
            <a:srgbClr val="8892D6"/>
          </a:solidFill>
          <a:ln w="12700">
            <a:solidFill>
              <a:srgbClr val="8892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2801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8288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Сведения о кафедрах и преподавателях лежат в разных местах. Найти человека по фамилии или дисциплине долго, а данные расходятся.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2011680"/>
          </a:xfrm>
          <a:prstGeom prst="roundRect">
            <a:avLst>
              <a:gd name="adj" fmla="val 5455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92040" y="1280160"/>
            <a:ext cx="329184" cy="32918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92040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349240" y="12801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18288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на чистом PHP: карточки, поиск без учёта регистра, фильтры по кафедре и должности, страница подробной информации.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338328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283048"/>
          </a:solidFill>
          <a:ln w="12700">
            <a:solidFill>
              <a:srgbClr val="28304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4747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400" dirty="0"/>
          </a:p>
        </p:txBody>
      </p:sp>
      <p:sp>
        <p:nvSpPr>
          <p:cNvPr id="17" name="Text 14"/>
          <p:cNvSpPr txBox="1"/>
          <p:nvPr/>
        </p:nvSpPr>
        <p:spPr>
          <a:xfrm>
            <a:off x="1508760" y="347472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файлов в проекте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264408" y="338328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283048"/>
          </a:solidFill>
          <a:ln w="12700">
            <a:solidFill>
              <a:srgbClr val="28304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447288" y="34747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20" name="Text 17"/>
          <p:cNvSpPr txBox="1"/>
          <p:nvPr/>
        </p:nvSpPr>
        <p:spPr>
          <a:xfrm>
            <a:off x="4315968" y="347472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функций в catalog.php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071616" y="338328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283048"/>
          </a:solidFill>
          <a:ln w="12700">
            <a:solidFill>
              <a:srgbClr val="28304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54496" y="34747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23" name="Text 20"/>
          <p:cNvSpPr txBox="1"/>
          <p:nvPr/>
        </p:nvSpPr>
        <p:spPr>
          <a:xfrm>
            <a:off x="7123176" y="347472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страницы: каталог, профиль, 404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Требования и технологии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· Каталог кафедр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023360" cy="307238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Требование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Статус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Данные в JSON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Готово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Поиск без учёта регистра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Готово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Фильтры: кафедра, должность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Готово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Сортировка и группировка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Готово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Экранирование вывода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Готово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Карточки и страница профиля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Готово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Админ-форма (повышенная)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сделано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754880" y="1143000"/>
            <a:ext cx="3931920" cy="594360"/>
          </a:xfrm>
          <a:prstGeom prst="roundRect">
            <a:avLst>
              <a:gd name="adj" fmla="val 18462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892040" y="1280160"/>
            <a:ext cx="329184" cy="32918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892040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349240" y="11978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8.4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349240" y="14538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strict_types, функции, массивы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54880" y="1828800"/>
            <a:ext cx="3931920" cy="594360"/>
          </a:xfrm>
          <a:prstGeom prst="roundRect">
            <a:avLst>
              <a:gd name="adj" fmla="val 18462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892040" y="1965960"/>
            <a:ext cx="329184" cy="329184"/>
          </a:xfrm>
          <a:prstGeom prst="ellipse">
            <a:avLst/>
          </a:prstGeom>
          <a:solidFill>
            <a:srgbClr val="8892D6"/>
          </a:solidFill>
          <a:ln w="12700">
            <a:solidFill>
              <a:srgbClr val="8892D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89204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349240" y="18836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349240" y="21396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кафедр и преподавателей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754880" y="2514600"/>
            <a:ext cx="3931920" cy="594360"/>
          </a:xfrm>
          <a:prstGeom prst="roundRect">
            <a:avLst>
              <a:gd name="adj" fmla="val 18462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92040" y="2651760"/>
            <a:ext cx="329184" cy="32918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892040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5349240" y="25694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и CSS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5349240" y="28254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 и форма фильтров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754880" y="3200400"/>
            <a:ext cx="3931920" cy="594360"/>
          </a:xfrm>
          <a:prstGeom prst="roundRect">
            <a:avLst>
              <a:gd name="adj" fmla="val 18462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892040" y="3337560"/>
            <a:ext cx="329184" cy="329184"/>
          </a:xfrm>
          <a:prstGeom prst="ellipse">
            <a:avLst/>
          </a:prstGeom>
          <a:solidFill>
            <a:srgbClr val="8892D6"/>
          </a:solidFill>
          <a:ln w="12700">
            <a:solidFill>
              <a:srgbClr val="8892D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892040" y="3337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5349240" y="32552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Встроенный сервер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5349240" y="35112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-S для запуска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754880" y="3886200"/>
            <a:ext cx="3931920" cy="594360"/>
          </a:xfrm>
          <a:prstGeom prst="roundRect">
            <a:avLst>
              <a:gd name="adj" fmla="val 18462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892040" y="4023360"/>
            <a:ext cx="329184" cy="32918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892040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5349240" y="39410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и GitHub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5349240" y="41970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и документация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и путь запроса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09728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Представление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2834640" y="109728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index.php, teacher.php, 404.php, templates, style.css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109728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 GET, выводит HTML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810512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81051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892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Логика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834640" y="181051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src/catalog.php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181051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поиск, фильтры, сортировка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523744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52374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834640" y="252374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data/catalog.json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252374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кафедры и преподаватели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310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9B0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Путь запроса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57200" y="365760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283048"/>
          </a:solidFill>
          <a:ln w="12700">
            <a:solidFill>
              <a:srgbClr val="28304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3657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?q=иванов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920240" y="3657600"/>
            <a:ext cx="219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2139696" y="365760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283048"/>
          </a:solidFill>
          <a:ln w="12700">
            <a:solidFill>
              <a:srgbClr val="28304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139696" y="3657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PHP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index.php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3602736" y="3657600"/>
            <a:ext cx="219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822192" y="365760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283048"/>
          </a:solidFill>
          <a:ln w="12700">
            <a:solidFill>
              <a:srgbClr val="28304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822192" y="3657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catalog.php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285232" y="3657600"/>
            <a:ext cx="219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504688" y="365760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283048"/>
          </a:solidFill>
          <a:ln w="12700">
            <a:solidFill>
              <a:srgbClr val="28304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504688" y="3657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967728" y="3657600"/>
            <a:ext cx="219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187184" y="365760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187184" y="3657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Интерфейс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pic>
        <p:nvPicPr>
          <p:cNvPr id="6" name="Image 0" descr="shot_cat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124712"/>
            <a:ext cx="3877056" cy="184797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017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663440" y="10515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pic>
        <p:nvPicPr>
          <p:cNvPr id="9" name="Image 1" descr="shot_pro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124712"/>
            <a:ext cx="3877056" cy="187569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754880" y="3017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преподавателя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457200" y="3520440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94360" y="3630168"/>
            <a:ext cx="329184" cy="32918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3630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005840" y="36301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Поиск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4023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фамилия или дисциплина, регистр не важен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2542032" y="3520440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2679192" y="3630168"/>
            <a:ext cx="329184" cy="329184"/>
          </a:xfrm>
          <a:prstGeom prst="ellipse">
            <a:avLst/>
          </a:prstGeom>
          <a:solidFill>
            <a:srgbClr val="8892D6"/>
          </a:solidFill>
          <a:ln w="12700">
            <a:solidFill>
              <a:srgbClr val="8892D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679192" y="3630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3090672" y="36301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Фильтры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2679192" y="4023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кафедра и должность, параметры GET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626864" y="3520440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764024" y="3630168"/>
            <a:ext cx="329184" cy="329184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764024" y="3630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175504" y="36301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Кнопки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4764024" y="4023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«Найти» отправляет форму, «Сбросить» очищает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711696" y="3520440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848856" y="3630168"/>
            <a:ext cx="329184" cy="32918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848856" y="3630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7260336" y="36301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Профиль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6848856" y="4023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дисциплины, расписание по дням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Файлы: что делает каждый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73075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Файл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делает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index.php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Каталог: читает GET, выводит форму и карточки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teacher.php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Профиль: ищет запись по id, иначе 404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404.php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Страница «не найдено», код ответа 404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src/catalog.php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Константа POSITIONS и 9 функций логики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templates/header.php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Шапка, подключение CSS, навигация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templates/footer.php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Подвал и закрывающие теги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data/catalog.json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Кафедры и преподаватели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assets/style.css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Сетка карточек, отступы, шрифты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README.md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Описание, запуск, структура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test-cases.md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Тестовые сценарии и статусы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.gitignore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Исключения для Git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Функции: что и как делает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· Каталог кафедр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474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Функция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делает и как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loadCatalog()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Читает JSON, проверяет json_decode, при ошибке бросает исключение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htmlspecialchars() для всего вывода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normalize()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 и mb_strtolower для поиска без учёта регистра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searchTeachers()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Ищет запрос в фамилии и дисциплинах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filterTeachers()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Оставляет нужную кафедру и должность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sortTeachers()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usort() по фамилии, прямой или обратный порядок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groupByDepartment()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Группирует преподавателей по кафедре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findTeacher()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Находит запись по id, иначе 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renderError()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Понятное сообщение без технических деталей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Поиск и фильтры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344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searchTeachers(array $t,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string $query): array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$q = normalize($query);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($q === '') return $t;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array_values(array_filter($t,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fn(array $x): bool =&gt;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str_contains(normalize($x['surname']), $q)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|| matchesDiscipline($x, $q)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60720" y="1097280"/>
            <a:ext cx="2926080" cy="1051560"/>
          </a:xfrm>
          <a:prstGeom prst="roundRect">
            <a:avLst>
              <a:gd name="adj" fmla="val 10435"/>
            </a:avLst>
          </a:prstGeom>
          <a:solidFill>
            <a:srgbClr val="283048"/>
          </a:solidFill>
          <a:ln w="12700">
            <a:solidFill>
              <a:srgbClr val="28304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97880" y="1207008"/>
            <a:ext cx="329184" cy="32918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97880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12070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897880" y="161848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сверяется с POSITIONS, dept приводится к int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60720" y="2258568"/>
            <a:ext cx="2926080" cy="1051560"/>
          </a:xfrm>
          <a:prstGeom prst="roundRect">
            <a:avLst>
              <a:gd name="adj" fmla="val 10435"/>
            </a:avLst>
          </a:prstGeom>
          <a:solidFill>
            <a:srgbClr val="283048"/>
          </a:solidFill>
          <a:ln w="12700">
            <a:solidFill>
              <a:srgbClr val="28304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97880" y="2368296"/>
            <a:ext cx="329184" cy="329184"/>
          </a:xfrm>
          <a:prstGeom prst="ellipse">
            <a:avLst/>
          </a:prstGeom>
          <a:solidFill>
            <a:srgbClr val="8892D6"/>
          </a:solidFill>
          <a:ln w="12700">
            <a:solidFill>
              <a:srgbClr val="8892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97880" y="2368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23682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Цепочка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897880" y="27797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поиск, затем фильтр, затем сортировка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760720" y="3419856"/>
            <a:ext cx="2926080" cy="1051560"/>
          </a:xfrm>
          <a:prstGeom prst="roundRect">
            <a:avLst>
              <a:gd name="adj" fmla="val 10435"/>
            </a:avLst>
          </a:prstGeom>
          <a:solidFill>
            <a:srgbClr val="283048"/>
          </a:solidFill>
          <a:ln w="12700">
            <a:solidFill>
              <a:srgbClr val="28304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97880" y="3529584"/>
            <a:ext cx="329184" cy="329184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97880" y="3529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355080" y="3529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Безопасность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897880" y="394106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пустой запрос возвращает всё, подделка параметров игнорируется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Ввод и найденные ошибки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114800" cy="3200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Неверный ввод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Реакция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Пустой запрос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Показаны все записи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dept=abc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Фильтр игнорируется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Должность не из списка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Фильтр игнорируется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&lt;script&gt; в поиске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Выводится как текст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teacher.php?id=999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Страница 404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DC9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Повреждённый JSON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2F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Понятное сообщение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846320" y="1097280"/>
            <a:ext cx="3840480" cy="3429000"/>
          </a:xfrm>
          <a:prstGeom prst="roundRect">
            <a:avLst>
              <a:gd name="adj" fmla="val 3200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029200" y="12070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error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029200" y="14447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пропал тег &lt;?php в catalog.php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029200" y="17556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пустой</a:t>
            </a:r>
            <a:endParaRPr lang="en-US" sz="1300" dirty="0"/>
          </a:p>
        </p:txBody>
      </p:sp>
      <p:sp>
        <p:nvSpPr>
          <p:cNvPr id="4" name="Text 6"/>
          <p:cNvSpPr txBox="1"/>
          <p:nvPr/>
        </p:nvSpPr>
        <p:spPr>
          <a:xfrm>
            <a:off x="5029200" y="1993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«Сеньор-лектор» не было в POSITIONS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029200" y="23042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Пустая страница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029200" y="25420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index.php остался пустым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029200" y="28529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«php» не найден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029200" y="30906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был добавлен путь в PATH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029200" y="34015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Лишний php.ini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029200" y="36393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оставлен один файл настроек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029200" y="39502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у края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029200" y="41879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добавлены отступы и max-width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2F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046720" cy="731520"/>
          </a:xfrm>
          <a:prstGeom prst="roundRect">
            <a:avLst>
              <a:gd name="adj" fmla="val 15000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72768"/>
            <a:ext cx="329184" cy="32918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716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Работающий каталог: 11 кафедр, 4 преподавателя, 18 занятий, поиск, фильтры, профиль.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8046720" cy="731520"/>
          </a:xfrm>
          <a:prstGeom prst="roundRect">
            <a:avLst>
              <a:gd name="adj" fmla="val 15000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441448"/>
            <a:ext cx="329184" cy="329184"/>
          </a:xfrm>
          <a:prstGeom prst="ellipse">
            <a:avLst/>
          </a:prstGeom>
          <a:solidFill>
            <a:srgbClr val="8892D6"/>
          </a:solidFill>
          <a:ln w="12700">
            <a:solidFill>
              <a:srgbClr val="8892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24028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Применены функции с типами, массивы, GET, экранирование и работа с JSON.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8046720" cy="731520"/>
          </a:xfrm>
          <a:prstGeom prst="roundRect">
            <a:avLst>
              <a:gd name="adj" fmla="val 15000"/>
            </a:avLst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310128"/>
            <a:ext cx="329184" cy="329184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1089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Ограничение: нет админ-формы. Дальше: ООП, PDO, формы с CSRF-токеном.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1080</Words>
  <Application>Microsoft Office PowerPoint</Application>
  <PresentationFormat>Экран (16:9)</PresentationFormat>
  <Paragraphs>218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Каталог кафедр и преподавателей</dc:title>
  <dc:subject>PptxGenJS Presentation</dc:subject>
  <dc:creator>PptxGenJS</dc:creator>
  <cp:lastModifiedBy>Бакберген Сахи</cp:lastModifiedBy>
  <cp:revision>2</cp:revision>
  <dcterms:created xsi:type="dcterms:W3CDTF">2026-10-20T09:14:10Z</dcterms:created>
  <dcterms:modified xsi:type="dcterms:W3CDTF">2026-10-20T09:19:29Z</dcterms:modified>
</cp:coreProperties>
</file>